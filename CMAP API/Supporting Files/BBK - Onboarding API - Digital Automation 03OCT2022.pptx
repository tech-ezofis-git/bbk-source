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284" r:id="rId4"/>
    <p:sldId id="285" r:id="rId5"/>
    <p:sldId id="287" r:id="rId6"/>
    <p:sldId id="290" r:id="rId7"/>
    <p:sldId id="291" r:id="rId8"/>
    <p:sldId id="292" r:id="rId9"/>
    <p:sldId id="2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8E2"/>
    <a:srgbClr val="643094"/>
    <a:srgbClr val="FF97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8701C-D239-43A1-9213-B75EF9E8E686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3E2D3-1924-43BC-85C1-33B8CC2E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36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45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B4BA3-59D3-1C1E-D9B8-40B530AF9C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4796B-513E-6D44-EB5D-7B2B72B68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06714-D681-7DB1-5A71-345849696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DB27D-0961-45DC-C464-1FD6A039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03F07-1EC7-AD8C-29C1-6083F8353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111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1D8C-B0FB-6065-FA63-96B05137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78E57-EDFA-E00B-3216-48DC1326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F20A9-4C8F-E7A5-E47D-46C3B5A1B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A38C4-0F63-5827-75CF-2CF50C88B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A9E5C-7923-C221-2092-6ABD6296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55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F351-CA6C-79A6-1AA7-B12389DF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A5C23-D320-4F2C-5549-D403E260C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FAF1C-DB78-B5C5-DD6E-95249312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27D35-2BFC-13D6-5CB9-647A46D0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ECE6A-A8EE-47C1-B8F4-392D5718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86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8B573-DB7E-EE3A-8AC6-A6A2741C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9C9BF-DB74-E456-FA4B-2AF51FB405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72E90-E6A3-37E4-3428-7CBFE4D1A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1261E-C508-0550-CEB1-AC59D67E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8F8C40-4E96-DE36-8D36-51AE2690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E0909-6EC1-F428-35E0-A8F2BAD8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6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04CA-83FB-6155-8909-FE8DCD2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27C13-31B9-2C6F-2C7A-D7A835E3C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DB77D-BEB3-3E6B-AB39-79FCE08E9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04EDE-2A5F-B2D6-943D-DB662BA8E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A1FDEF-5F87-7F36-53B2-7B733235A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B425CC-6E37-B4FC-69F0-0622B8DAF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7E411-A9C6-E0A8-8BBC-A88CF9C70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CF4D5-F9E2-D636-E0AA-07248A17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902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4183-BC5C-A7D3-CEA2-B814AD7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BB2D6-355A-25AD-9EED-E4912253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B55B5-2FFE-EB9F-D5C1-6697B9C8F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123D2-1882-45E6-0E43-B217FE5D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53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36A6B-AA83-9F6F-FA52-EFC74EAD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CCC44-CF59-26CC-A44A-3A488C83C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57072-6FDE-3206-B8FC-05C82E04B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52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B4719-09D9-7CE1-7901-B0C37EC9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2D9EB-DC5D-8870-8D3B-73A424B74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F4327-95B4-215D-6E23-7B2CA9039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7E512-8A1E-B5C0-ABF1-FE5F1206D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F812D-F802-71CD-D68B-95F016CD9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D303B-9DC7-BF37-3415-19ACA409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93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CA213-6510-782A-FA9A-B341C5658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48D686-B710-937B-104C-50F2B8C951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3E56D-C388-3E7E-A4A8-2EE06E668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BDF23-0F1D-B3EB-AD87-F55088553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AF294-3685-9902-CE0E-6A19A077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4D62D-673E-670E-788A-1F5B71F51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39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07AA-5E81-F8EB-AB05-940A7C810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146C2-0DE5-73DA-231B-51695467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985B4-0090-B17B-3B29-5D8ED5AC6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58A63-B221-6C7A-0FD7-5187D838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42901-8AEE-2C29-C921-F89522288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18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1412E-D45D-6CA1-82B9-FE5783C09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12C7B-A21A-78A7-233A-4B990C88B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C5DC-6117-5A4A-EF46-57978A75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5DCE2-A362-5D77-A168-182C7E2D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14B9D-F652-92F9-94D5-9EC4587B4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435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6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ECE461-C59A-8B3A-A0B9-42D88F89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84F69-AF38-72D3-521E-B5AB3A09D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1A722-7547-CDAC-6265-8A4A6F7B4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9942E-0114-479E-8BB4-3C097D64EBA4}" type="datetimeFigureOut">
              <a:rPr lang="en-IN" smtClean="0"/>
              <a:t>03-10-2022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B9313-5409-927E-9283-C22CA9CB2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69F0-881F-57A3-8295-4EBE50076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57666-FEA2-43F0-AFBE-EEC86724F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91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jpe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2.png"/><Relationship Id="rId9" Type="http://schemas.openxmlformats.org/officeDocument/2006/relationships/image" Target="../media/image1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uide to Onboarding Automation | ProcessMaker">
            <a:extLst>
              <a:ext uri="{FF2B5EF4-FFF2-40B4-BE49-F238E27FC236}">
                <a16:creationId xmlns:a16="http://schemas.microsoft.com/office/drawing/2014/main" id="{6F793674-6DE8-199E-4BC1-82549ED37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122" y="1852063"/>
            <a:ext cx="5535764" cy="3691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5250;p36">
            <a:extLst>
              <a:ext uri="{FF2B5EF4-FFF2-40B4-BE49-F238E27FC236}">
                <a16:creationId xmlns:a16="http://schemas.microsoft.com/office/drawing/2014/main" id="{2E6AE625-3EBA-F970-F166-7C664D85498A}"/>
              </a:ext>
            </a:extLst>
          </p:cNvPr>
          <p:cNvSpPr txBox="1">
            <a:spLocks/>
          </p:cNvSpPr>
          <p:nvPr/>
        </p:nvSpPr>
        <p:spPr>
          <a:xfrm>
            <a:off x="4543425" y="5200780"/>
            <a:ext cx="7273340" cy="473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r">
              <a:spcAft>
                <a:spcPts val="1600"/>
              </a:spcAft>
              <a:buNone/>
            </a:pPr>
            <a:r>
              <a:rPr kumimoji="0" lang="en-IN" sz="2700" b="0" i="0" u="none" strike="noStrike" kern="0" cap="none" spc="0" normalizeH="0" baseline="0" noProof="0" dirty="0">
                <a:ln>
                  <a:noFill/>
                </a:ln>
                <a:solidFill>
                  <a:srgbClr val="37474F"/>
                </a:solidFill>
                <a:effectLst/>
                <a:uLnTx/>
                <a:uFillTx/>
                <a:latin typeface="Staatliches"/>
                <a:ea typeface="Staatliches"/>
                <a:cs typeface="Staatliches"/>
                <a:sym typeface="Staatliches"/>
              </a:rPr>
              <a:t>BBK TRADE ONBOARDING AUTOMATION </a:t>
            </a:r>
          </a:p>
        </p:txBody>
      </p:sp>
      <p:sp>
        <p:nvSpPr>
          <p:cNvPr id="5" name="Google Shape;5251;p36">
            <a:extLst>
              <a:ext uri="{FF2B5EF4-FFF2-40B4-BE49-F238E27FC236}">
                <a16:creationId xmlns:a16="http://schemas.microsoft.com/office/drawing/2014/main" id="{D77C25EA-0FDC-D315-F093-430B18E7C733}"/>
              </a:ext>
            </a:extLst>
          </p:cNvPr>
          <p:cNvSpPr txBox="1">
            <a:spLocks/>
          </p:cNvSpPr>
          <p:nvPr/>
        </p:nvSpPr>
        <p:spPr>
          <a:xfrm>
            <a:off x="9197249" y="5987756"/>
            <a:ext cx="2619516" cy="473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 b="0" i="0" u="none" strike="noStrike" cap="none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>
              <a:spcAft>
                <a:spcPts val="1600"/>
              </a:spcAft>
              <a:buNone/>
            </a:pPr>
            <a:r>
              <a:rPr lang="en-IN" sz="2000" kern="0" dirty="0">
                <a:solidFill>
                  <a:srgbClr val="37474F"/>
                </a:solidFill>
              </a:rPr>
              <a:t>BY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37474F"/>
              </a:solidFill>
              <a:effectLst/>
              <a:uLnTx/>
              <a:uFillTx/>
              <a:latin typeface="Dosis ExtraLight"/>
              <a:sym typeface="Dosis Extra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C7690-CC25-4D4D-47A8-460A5EED1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828" y="5922788"/>
            <a:ext cx="1796962" cy="552505"/>
          </a:xfrm>
          <a:prstGeom prst="rect">
            <a:avLst/>
          </a:prstGeom>
        </p:spPr>
      </p:pic>
      <p:pic>
        <p:nvPicPr>
          <p:cNvPr id="7" name="Picture 18" descr="Flat button png 3 » PNG Image">
            <a:extLst>
              <a:ext uri="{FF2B5EF4-FFF2-40B4-BE49-F238E27FC236}">
                <a16:creationId xmlns:a16="http://schemas.microsoft.com/office/drawing/2014/main" id="{75EC2BE9-8157-EF46-10A9-88F3A01EA6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20" b="24170"/>
          <a:stretch/>
        </p:blipFill>
        <p:spPr bwMode="auto">
          <a:xfrm>
            <a:off x="7391691" y="5922788"/>
            <a:ext cx="1106113" cy="40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1B6E2A-2E40-1BF7-CACF-7D72E581CBBB}"/>
              </a:ext>
            </a:extLst>
          </p:cNvPr>
          <p:cNvSpPr txBox="1"/>
          <p:nvPr/>
        </p:nvSpPr>
        <p:spPr>
          <a:xfrm>
            <a:off x="7524282" y="5986070"/>
            <a:ext cx="86790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Segoe UI Light" panose="020B0502040204020203" pitchFamily="34" charset="0"/>
              </a:rPr>
              <a:t>Version 2</a:t>
            </a:r>
            <a:endParaRPr lang="en-US" sz="12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09E9E37-EB21-6EED-9B76-5F6E3741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55278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DIGITAL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16B8D31-99DA-3CBA-3AD2-699C9344C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1055650"/>
            <a:ext cx="1102995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4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WORKFLOW </a:t>
            </a:r>
            <a:r>
              <a:rPr kumimoji="0" lang="en-CA" altLang="en-US" sz="4800" b="1" i="0" u="none" strike="noStrike" cap="none" normalizeH="0" baseline="0" dirty="0">
                <a:ln>
                  <a:noFill/>
                </a:ln>
                <a:solidFill>
                  <a:srgbClr val="00BCD4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SOLUTION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How to turn your process into digital workflows and automate it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990494-3E09-11AC-760A-F622D6FD1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1" y="5338279"/>
            <a:ext cx="2238687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E85A67-5628-7ED6-2511-FA42437C5CEF}"/>
              </a:ext>
            </a:extLst>
          </p:cNvPr>
          <p:cNvSpPr/>
          <p:nvPr/>
        </p:nvSpPr>
        <p:spPr>
          <a:xfrm>
            <a:off x="313232" y="243802"/>
            <a:ext cx="1993435" cy="646331"/>
          </a:xfrm>
          <a:prstGeom prst="roundRect">
            <a:avLst>
              <a:gd name="adj" fmla="val 65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 descr="Bank of Bahrain and Kuwait - Wikipedia">
            <a:extLst>
              <a:ext uri="{FF2B5EF4-FFF2-40B4-BE49-F238E27FC236}">
                <a16:creationId xmlns:a16="http://schemas.microsoft.com/office/drawing/2014/main" id="{7F1A0E4E-1FA3-8535-B16A-18355D7FE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32" y="289232"/>
            <a:ext cx="820538" cy="492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066967E-9627-1882-24DF-793A20F92A44}"/>
              </a:ext>
            </a:extLst>
          </p:cNvPr>
          <p:cNvGrpSpPr/>
          <p:nvPr/>
        </p:nvGrpSpPr>
        <p:grpSpPr>
          <a:xfrm>
            <a:off x="4303149" y="1563408"/>
            <a:ext cx="881697" cy="880579"/>
            <a:chOff x="3602799" y="964042"/>
            <a:chExt cx="881697" cy="880579"/>
          </a:xfrm>
        </p:grpSpPr>
        <p:pic>
          <p:nvPicPr>
            <p:cNvPr id="7" name="Picture 12" descr="Desktop Computer Icon transparent PNG - StickPNG">
              <a:extLst>
                <a:ext uri="{FF2B5EF4-FFF2-40B4-BE49-F238E27FC236}">
                  <a16:creationId xmlns:a16="http://schemas.microsoft.com/office/drawing/2014/main" id="{412475FE-CAAA-DBF3-9266-E36A355D31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3917" y="964042"/>
              <a:ext cx="880579" cy="880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E1AD55-DEDE-422A-2064-8071835F4C94}"/>
                </a:ext>
              </a:extLst>
            </p:cNvPr>
            <p:cNvSpPr txBox="1"/>
            <p:nvPr/>
          </p:nvSpPr>
          <p:spPr>
            <a:xfrm>
              <a:off x="3602799" y="1060571"/>
              <a:ext cx="66566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kern="0" dirty="0">
                  <a:solidFill>
                    <a:srgbClr val="C02EA8"/>
                  </a:solidFill>
                </a:rPr>
                <a:t>E</a:t>
              </a:r>
              <a:r>
                <a:rPr lang="en-IN" sz="1200" b="1" kern="0" dirty="0">
                  <a:solidFill>
                    <a:srgbClr val="C02EA8"/>
                  </a:solidFill>
                </a:rPr>
                <a:t>ZOFIS</a:t>
              </a:r>
            </a:p>
            <a:p>
              <a:r>
                <a:rPr lang="en-IN" sz="1200" b="1" kern="0" dirty="0">
                  <a:solidFill>
                    <a:srgbClr val="C02EA8"/>
                  </a:solidFill>
                </a:rPr>
                <a:t>API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1026D71A-349F-130C-B916-4E76C9ABD9F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3646" b="-4906"/>
          <a:stretch/>
        </p:blipFill>
        <p:spPr>
          <a:xfrm>
            <a:off x="4091482" y="1603208"/>
            <a:ext cx="212785" cy="260431"/>
          </a:xfrm>
          <a:prstGeom prst="rect">
            <a:avLst/>
          </a:prstGeom>
        </p:spPr>
      </p:pic>
      <p:pic>
        <p:nvPicPr>
          <p:cNvPr id="10" name="Picture 8" descr="Integration Icon Png – Free PNG Images Vector, PSD, Clipart, Templates">
            <a:extLst>
              <a:ext uri="{FF2B5EF4-FFF2-40B4-BE49-F238E27FC236}">
                <a16:creationId xmlns:a16="http://schemas.microsoft.com/office/drawing/2014/main" id="{63440A3E-6EB4-6918-8EF6-F2A73FB70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857354">
            <a:off x="3191982" y="1773108"/>
            <a:ext cx="461176" cy="46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1E9358A-C0C9-07C6-E6CF-0B93D5586FB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306667" y="566968"/>
            <a:ext cx="1997600" cy="1436730"/>
          </a:xfrm>
          <a:prstGeom prst="bent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oogle Shape;152;p17">
            <a:extLst>
              <a:ext uri="{FF2B5EF4-FFF2-40B4-BE49-F238E27FC236}">
                <a16:creationId xmlns:a16="http://schemas.microsoft.com/office/drawing/2014/main" id="{DEA3B28D-9E24-EA1C-D28C-C1D3BDD0A8ED}"/>
              </a:ext>
            </a:extLst>
          </p:cNvPr>
          <p:cNvSpPr/>
          <p:nvPr/>
        </p:nvSpPr>
        <p:spPr>
          <a:xfrm>
            <a:off x="384490" y="969670"/>
            <a:ext cx="2210759" cy="734081"/>
          </a:xfrm>
          <a:prstGeom prst="snip2DiagRect">
            <a:avLst>
              <a:gd name="adj1" fmla="val 0"/>
              <a:gd name="adj2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948DE5-4FBD-0A2F-D42D-7991E5C869A5}"/>
              </a:ext>
            </a:extLst>
          </p:cNvPr>
          <p:cNvSpPr txBox="1"/>
          <p:nvPr/>
        </p:nvSpPr>
        <p:spPr>
          <a:xfrm>
            <a:off x="342248" y="1025327"/>
            <a:ext cx="225300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BBK: Screen  to browse / upload the files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BBK: Call EZOFIS API to Push / Upload Files [as JSON Param]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2D976A-6A76-7550-1368-307D4116F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34" y="781554"/>
            <a:ext cx="1158257" cy="830923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883423A-B8E7-3D0E-E70C-5983B90ED036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5184846" y="1197016"/>
            <a:ext cx="1371388" cy="806682"/>
          </a:xfrm>
          <a:prstGeom prst="bentConnector3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Decision 18">
            <a:extLst>
              <a:ext uri="{FF2B5EF4-FFF2-40B4-BE49-F238E27FC236}">
                <a16:creationId xmlns:a16="http://schemas.microsoft.com/office/drawing/2014/main" id="{661E9DF9-68B9-CFB2-1E6F-380FEEF6AEDF}"/>
              </a:ext>
            </a:extLst>
          </p:cNvPr>
          <p:cNvSpPr/>
          <p:nvPr/>
        </p:nvSpPr>
        <p:spPr>
          <a:xfrm>
            <a:off x="7899097" y="2593373"/>
            <a:ext cx="584945" cy="620202"/>
          </a:xfrm>
          <a:prstGeom prst="flowChartDecisio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ounded Rectangle 113">
            <a:extLst>
              <a:ext uri="{FF2B5EF4-FFF2-40B4-BE49-F238E27FC236}">
                <a16:creationId xmlns:a16="http://schemas.microsoft.com/office/drawing/2014/main" id="{C89F6278-1B80-19E7-264D-51BCA126197D}"/>
              </a:ext>
            </a:extLst>
          </p:cNvPr>
          <p:cNvSpPr/>
          <p:nvPr/>
        </p:nvSpPr>
        <p:spPr>
          <a:xfrm>
            <a:off x="5017124" y="4421175"/>
            <a:ext cx="2869160" cy="1321964"/>
          </a:xfrm>
          <a:prstGeom prst="roundRect">
            <a:avLst>
              <a:gd name="adj" fmla="val 7766"/>
            </a:avLst>
          </a:prstGeom>
          <a:solidFill>
            <a:schemeClr val="bg1">
              <a:alpha val="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43BCDA-0F80-CED7-224E-E09F9A021740}"/>
              </a:ext>
            </a:extLst>
          </p:cNvPr>
          <p:cNvSpPr txBox="1"/>
          <p:nvPr/>
        </p:nvSpPr>
        <p:spPr>
          <a:xfrm>
            <a:off x="6028934" y="5004095"/>
            <a:ext cx="1699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Successfully Archiving into EZOFIS Portal for the PDF/A Files as final (for </a:t>
            </a:r>
            <a:r>
              <a:rPr lang="en-US" sz="900" dirty="0">
                <a:solidFill>
                  <a:srgbClr val="00C8E2"/>
                </a:solidFill>
                <a:highlight>
                  <a:srgbClr val="00808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Corporate</a:t>
            </a:r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Repository – for KYC Files)</a:t>
            </a:r>
          </a:p>
        </p:txBody>
      </p:sp>
      <p:pic>
        <p:nvPicPr>
          <p:cNvPr id="23" name="Picture 10" descr="Accept Document Icon in Flat Style. Reject Vector Illustration on White  Isolated Background. Check Mark Message Business Concept Stock Vector -  Illustration of copy, approved: 163451123">
            <a:extLst>
              <a:ext uri="{FF2B5EF4-FFF2-40B4-BE49-F238E27FC236}">
                <a16:creationId xmlns:a16="http://schemas.microsoft.com/office/drawing/2014/main" id="{530807A3-30AC-4510-A1E2-47B9D3BC51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2" t="14585" r="51253" b="24545"/>
          <a:stretch/>
        </p:blipFill>
        <p:spPr bwMode="auto">
          <a:xfrm>
            <a:off x="5792557" y="5111881"/>
            <a:ext cx="302155" cy="28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DCEC11B-8287-DC8B-645D-88C12794A26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016" y="4518062"/>
            <a:ext cx="432415" cy="447135"/>
          </a:xfrm>
          <a:prstGeom prst="rect">
            <a:avLst/>
          </a:prstGeom>
        </p:spPr>
      </p:pic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5648FED-A105-64F4-4F2E-2A2A7B0D475A}"/>
              </a:ext>
            </a:extLst>
          </p:cNvPr>
          <p:cNvCxnSpPr>
            <a:cxnSpLocks/>
            <a:stCxn id="27" idx="2"/>
            <a:endCxn id="23" idx="1"/>
          </p:cNvCxnSpPr>
          <p:nvPr/>
        </p:nvCxnSpPr>
        <p:spPr>
          <a:xfrm rot="16200000" flipH="1">
            <a:off x="5407011" y="4866409"/>
            <a:ext cx="286759" cy="484333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113">
            <a:extLst>
              <a:ext uri="{FF2B5EF4-FFF2-40B4-BE49-F238E27FC236}">
                <a16:creationId xmlns:a16="http://schemas.microsoft.com/office/drawing/2014/main" id="{ED813CF7-154B-9393-D217-22D7B842FC34}"/>
              </a:ext>
            </a:extLst>
          </p:cNvPr>
          <p:cNvSpPr/>
          <p:nvPr/>
        </p:nvSpPr>
        <p:spPr>
          <a:xfrm>
            <a:off x="8349882" y="4414014"/>
            <a:ext cx="3457976" cy="2084248"/>
          </a:xfrm>
          <a:prstGeom prst="roundRect">
            <a:avLst>
              <a:gd name="adj" fmla="val 7766"/>
            </a:avLst>
          </a:prstGeom>
          <a:solidFill>
            <a:schemeClr val="bg1">
              <a:alpha val="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0FEAFF-2FF5-417F-6C1B-FC36BD9522FD}"/>
              </a:ext>
            </a:extLst>
          </p:cNvPr>
          <p:cNvSpPr txBox="1"/>
          <p:nvPr/>
        </p:nvSpPr>
        <p:spPr>
          <a:xfrm>
            <a:off x="9431376" y="4955093"/>
            <a:ext cx="202615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Successfully Archiving into EZOFIS Portal for the PDF/A Files as final (for </a:t>
            </a:r>
            <a:r>
              <a:rPr lang="en-US" sz="900" dirty="0">
                <a:solidFill>
                  <a:srgbClr val="00C8E2"/>
                </a:solidFill>
                <a:highlight>
                  <a:srgbClr val="00808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Corporate</a:t>
            </a:r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Repository – for KYC Files)</a:t>
            </a:r>
          </a:p>
        </p:txBody>
      </p:sp>
      <p:pic>
        <p:nvPicPr>
          <p:cNvPr id="36" name="Picture 10" descr="Accept Document Icon in Flat Style. Reject Vector Illustration on White  Isolated Background. Check Mark Message Business Concept Stock Vector -  Illustration of copy, approved: 163451123">
            <a:extLst>
              <a:ext uri="{FF2B5EF4-FFF2-40B4-BE49-F238E27FC236}">
                <a16:creationId xmlns:a16="http://schemas.microsoft.com/office/drawing/2014/main" id="{07077342-686F-3398-074C-35976E6A60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72" t="14585" r="51253" b="24545"/>
          <a:stretch/>
        </p:blipFill>
        <p:spPr bwMode="auto">
          <a:xfrm>
            <a:off x="9194999" y="5062879"/>
            <a:ext cx="302155" cy="280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DAB895D-AEF0-981A-C525-6AEC5072D642}"/>
              </a:ext>
            </a:extLst>
          </p:cNvPr>
          <p:cNvSpPr txBox="1"/>
          <p:nvPr/>
        </p:nvSpPr>
        <p:spPr>
          <a:xfrm>
            <a:off x="9497154" y="5593578"/>
            <a:ext cx="215958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Verifies in Retail, for the same RIM Number / TIN Number whether the KYC Files are there. </a:t>
            </a:r>
          </a:p>
          <a:p>
            <a:r>
              <a:rPr lang="en-US" sz="900" dirty="0">
                <a:solidFill>
                  <a:srgbClr val="FF000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If yes, </a:t>
            </a:r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copy the new file under the </a:t>
            </a:r>
            <a:r>
              <a:rPr lang="en-US" sz="900" dirty="0">
                <a:solidFill>
                  <a:schemeClr val="bg1"/>
                </a:solidFill>
                <a:highlight>
                  <a:srgbClr val="808000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Retail</a:t>
            </a:r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Repository as New Version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F901BCD-1EB8-56E9-5ECB-8E006568860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458" y="4469060"/>
            <a:ext cx="432415" cy="447135"/>
          </a:xfrm>
          <a:prstGeom prst="rect">
            <a:avLst/>
          </a:prstGeom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4F76FE1-CA04-A58A-D55C-9C3DAD89719C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71336" y="5177865"/>
            <a:ext cx="903256" cy="424600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7DFDEA21-4852-DF0B-2938-30B02E7F931F}"/>
              </a:ext>
            </a:extLst>
          </p:cNvPr>
          <p:cNvCxnSpPr>
            <a:cxnSpLocks/>
            <a:stCxn id="40" idx="2"/>
            <a:endCxn id="36" idx="1"/>
          </p:cNvCxnSpPr>
          <p:nvPr/>
        </p:nvCxnSpPr>
        <p:spPr>
          <a:xfrm rot="16200000" flipH="1">
            <a:off x="8809453" y="4817407"/>
            <a:ext cx="286759" cy="484333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Black Rounded Document Sheet with Plus Sign. Flat Icon Isolated on White.  Upload Document Icon. Stock Illustration - Illustration of menu,  connection: 109790765">
            <a:extLst>
              <a:ext uri="{FF2B5EF4-FFF2-40B4-BE49-F238E27FC236}">
                <a16:creationId xmlns:a16="http://schemas.microsoft.com/office/drawing/2014/main" id="{7A39B9ED-B6F8-A022-118D-E5227403AD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95" t="17691" r="24796" b="14841"/>
          <a:stretch/>
        </p:blipFill>
        <p:spPr bwMode="auto">
          <a:xfrm>
            <a:off x="9177642" y="5683143"/>
            <a:ext cx="277133" cy="33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C52260A-36A3-B74C-5B31-97527D598667}"/>
              </a:ext>
            </a:extLst>
          </p:cNvPr>
          <p:cNvCxnSpPr>
            <a:cxnSpLocks/>
            <a:stCxn id="19" idx="3"/>
            <a:endCxn id="33" idx="0"/>
          </p:cNvCxnSpPr>
          <p:nvPr/>
        </p:nvCxnSpPr>
        <p:spPr>
          <a:xfrm>
            <a:off x="8484042" y="2903474"/>
            <a:ext cx="1594828" cy="1510540"/>
          </a:xfrm>
          <a:prstGeom prst="bentConnector2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30376EC-4573-11CA-459A-EBDAFB3641EE}"/>
              </a:ext>
            </a:extLst>
          </p:cNvPr>
          <p:cNvCxnSpPr>
            <a:cxnSpLocks/>
            <a:stCxn id="19" idx="1"/>
            <a:endCxn id="20" idx="0"/>
          </p:cNvCxnSpPr>
          <p:nvPr/>
        </p:nvCxnSpPr>
        <p:spPr>
          <a:xfrm rot="10800000" flipV="1">
            <a:off x="6451705" y="2903473"/>
            <a:ext cx="1447393" cy="1517701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99D95B5C-804C-6F3A-1EC8-3A41CB661CC1}"/>
              </a:ext>
            </a:extLst>
          </p:cNvPr>
          <p:cNvCxnSpPr>
            <a:cxnSpLocks/>
            <a:stCxn id="14" idx="3"/>
            <a:endCxn id="19" idx="0"/>
          </p:cNvCxnSpPr>
          <p:nvPr/>
        </p:nvCxnSpPr>
        <p:spPr>
          <a:xfrm>
            <a:off x="7714491" y="1197016"/>
            <a:ext cx="477079" cy="1396357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A539FCC-1B57-0907-AE06-FA11D96E0B2A}"/>
              </a:ext>
            </a:extLst>
          </p:cNvPr>
          <p:cNvGrpSpPr/>
          <p:nvPr/>
        </p:nvGrpSpPr>
        <p:grpSpPr>
          <a:xfrm>
            <a:off x="200310" y="1890769"/>
            <a:ext cx="2874797" cy="1189412"/>
            <a:chOff x="3550031" y="263344"/>
            <a:chExt cx="2603931" cy="1522981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071D5A0-D186-1D4B-9B41-4E189F04E7BC}"/>
                </a:ext>
              </a:extLst>
            </p:cNvPr>
            <p:cNvSpPr/>
            <p:nvPr/>
          </p:nvSpPr>
          <p:spPr>
            <a:xfrm>
              <a:off x="3550031" y="263344"/>
              <a:ext cx="2603931" cy="1522981"/>
            </a:xfrm>
            <a:prstGeom prst="roundRect">
              <a:avLst>
                <a:gd name="adj" fmla="val 7893"/>
              </a:avLst>
            </a:prstGeom>
            <a:solidFill>
              <a:schemeClr val="bg1">
                <a:alpha val="22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032EF3D1-17BF-7A73-091F-B112B2EC0E28}"/>
                </a:ext>
              </a:extLst>
            </p:cNvPr>
            <p:cNvSpPr txBox="1"/>
            <p:nvPr/>
          </p:nvSpPr>
          <p:spPr>
            <a:xfrm>
              <a:off x="3564605" y="361245"/>
              <a:ext cx="2561127" cy="13596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Single Login – TOKENs (generated with an separate login + Password will be shared to BBK (To Secure API Calling)) </a:t>
              </a:r>
              <a:r>
                <a:rPr lang="en-US" sz="900" i="1" u="sng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Per day- Token Generated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Metadata should be encrypted with the above code &amp; Token before passing the value in EZOFIS API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Single File should be passed via Base64 on each API CALL</a:t>
              </a:r>
            </a:p>
          </p:txBody>
        </p:sp>
      </p:grpSp>
      <p:sp>
        <p:nvSpPr>
          <p:cNvPr id="1030" name="Rounded Rectangle 113">
            <a:extLst>
              <a:ext uri="{FF2B5EF4-FFF2-40B4-BE49-F238E27FC236}">
                <a16:creationId xmlns:a16="http://schemas.microsoft.com/office/drawing/2014/main" id="{447667AF-F9F9-BDFC-9010-3A26B9EAAAC3}"/>
              </a:ext>
            </a:extLst>
          </p:cNvPr>
          <p:cNvSpPr/>
          <p:nvPr/>
        </p:nvSpPr>
        <p:spPr>
          <a:xfrm>
            <a:off x="9210723" y="237375"/>
            <a:ext cx="2832510" cy="1088357"/>
          </a:xfrm>
          <a:prstGeom prst="roundRect">
            <a:avLst>
              <a:gd name="adj" fmla="val 7766"/>
            </a:avLst>
          </a:prstGeom>
          <a:solidFill>
            <a:schemeClr val="bg1">
              <a:lumMod val="95000"/>
              <a:alpha val="59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8D22B8FE-6A57-FF48-6DE1-876DE2524EE9}"/>
              </a:ext>
            </a:extLst>
          </p:cNvPr>
          <p:cNvSpPr txBox="1"/>
          <p:nvPr/>
        </p:nvSpPr>
        <p:spPr>
          <a:xfrm>
            <a:off x="10087360" y="739328"/>
            <a:ext cx="1956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Unprocessed Files will be moved to Unprocessed folder if any mandatory metadata / file missing on API (if Base64 received fully)</a:t>
            </a:r>
          </a:p>
        </p:txBody>
      </p:sp>
      <p:pic>
        <p:nvPicPr>
          <p:cNvPr id="1034" name="Picture 10" descr="Accept Document Icon in Flat Style. Reject Vector Illustration on White  Isolated Background. Check Mark Message Business Concept Stock Vector -  Illustration of copy, approved: 163451123">
            <a:extLst>
              <a:ext uri="{FF2B5EF4-FFF2-40B4-BE49-F238E27FC236}">
                <a16:creationId xmlns:a16="http://schemas.microsoft.com/office/drawing/2014/main" id="{61889328-3BB9-AE92-0BF0-9889D8E801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65" t="14585" r="12478" b="24545"/>
          <a:stretch/>
        </p:blipFill>
        <p:spPr bwMode="auto">
          <a:xfrm>
            <a:off x="9790204" y="894178"/>
            <a:ext cx="302155" cy="27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036">
            <a:extLst>
              <a:ext uri="{FF2B5EF4-FFF2-40B4-BE49-F238E27FC236}">
                <a16:creationId xmlns:a16="http://schemas.microsoft.com/office/drawing/2014/main" id="{8B531D68-C791-F4B4-9775-E83A207DF99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801" y="283290"/>
            <a:ext cx="432415" cy="447135"/>
          </a:xfrm>
          <a:prstGeom prst="rect">
            <a:avLst/>
          </a:prstGeom>
        </p:spPr>
      </p:pic>
      <p:cxnSp>
        <p:nvCxnSpPr>
          <p:cNvPr id="1038" name="Connector: Elbow 1037">
            <a:extLst>
              <a:ext uri="{FF2B5EF4-FFF2-40B4-BE49-F238E27FC236}">
                <a16:creationId xmlns:a16="http://schemas.microsoft.com/office/drawing/2014/main" id="{EE40D65F-03C9-9709-E764-1D8779AEC1BA}"/>
              </a:ext>
            </a:extLst>
          </p:cNvPr>
          <p:cNvCxnSpPr>
            <a:cxnSpLocks/>
            <a:stCxn id="1037" idx="2"/>
            <a:endCxn id="1034" idx="1"/>
          </p:cNvCxnSpPr>
          <p:nvPr/>
        </p:nvCxnSpPr>
        <p:spPr>
          <a:xfrm rot="16200000" flipH="1">
            <a:off x="9480390" y="720043"/>
            <a:ext cx="299432" cy="320195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3" name="TextBox 1042">
            <a:extLst>
              <a:ext uri="{FF2B5EF4-FFF2-40B4-BE49-F238E27FC236}">
                <a16:creationId xmlns:a16="http://schemas.microsoft.com/office/drawing/2014/main" id="{54DAFA22-4B08-3A1A-0B0A-AD8372710225}"/>
              </a:ext>
            </a:extLst>
          </p:cNvPr>
          <p:cNvSpPr txBox="1"/>
          <p:nvPr/>
        </p:nvSpPr>
        <p:spPr>
          <a:xfrm>
            <a:off x="8359089" y="2442770"/>
            <a:ext cx="1822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If RIM Number / TIN Number has the KYC Files in Retail</a:t>
            </a:r>
            <a:endParaRPr lang="en-IN" sz="900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FA1F2405-3B67-37F7-8F6A-E15FEEEC1029}"/>
              </a:ext>
            </a:extLst>
          </p:cNvPr>
          <p:cNvSpPr txBox="1"/>
          <p:nvPr/>
        </p:nvSpPr>
        <p:spPr>
          <a:xfrm>
            <a:off x="8484042" y="2905294"/>
            <a:ext cx="3737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Yes</a:t>
            </a:r>
            <a:endParaRPr lang="en-IN" sz="900" dirty="0"/>
          </a:p>
        </p:txBody>
      </p:sp>
      <p:sp>
        <p:nvSpPr>
          <p:cNvPr id="1046" name="TextBox 1045">
            <a:extLst>
              <a:ext uri="{FF2B5EF4-FFF2-40B4-BE49-F238E27FC236}">
                <a16:creationId xmlns:a16="http://schemas.microsoft.com/office/drawing/2014/main" id="{7B145FF1-BBE8-97E5-B267-DA66B730D9E4}"/>
              </a:ext>
            </a:extLst>
          </p:cNvPr>
          <p:cNvSpPr txBox="1"/>
          <p:nvPr/>
        </p:nvSpPr>
        <p:spPr>
          <a:xfrm>
            <a:off x="7540628" y="2913665"/>
            <a:ext cx="34048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Segoe UI Light" panose="020B0502040204020203" pitchFamily="34" charset="0"/>
                <a:cs typeface="Segoe UI Light" panose="020B0502040204020203" pitchFamily="34" charset="0"/>
              </a:rPr>
              <a:t>No</a:t>
            </a:r>
            <a:endParaRPr lang="en-IN" sz="900" dirty="0"/>
          </a:p>
        </p:txBody>
      </p:sp>
      <p:cxnSp>
        <p:nvCxnSpPr>
          <p:cNvPr id="1050" name="Connector: Curved 1049">
            <a:extLst>
              <a:ext uri="{FF2B5EF4-FFF2-40B4-BE49-F238E27FC236}">
                <a16:creationId xmlns:a16="http://schemas.microsoft.com/office/drawing/2014/main" id="{A6BDDE90-F346-A7E3-48B1-9EC076B54795}"/>
              </a:ext>
            </a:extLst>
          </p:cNvPr>
          <p:cNvCxnSpPr>
            <a:cxnSpLocks/>
            <a:endCxn id="1030" idx="1"/>
          </p:cNvCxnSpPr>
          <p:nvPr/>
        </p:nvCxnSpPr>
        <p:spPr>
          <a:xfrm flipV="1">
            <a:off x="8213274" y="781554"/>
            <a:ext cx="997449" cy="41546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9" name="Picture 6">
            <a:extLst>
              <a:ext uri="{FF2B5EF4-FFF2-40B4-BE49-F238E27FC236}">
                <a16:creationId xmlns:a16="http://schemas.microsoft.com/office/drawing/2014/main" id="{129C3266-C890-370A-2276-026F89D17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088" y="2891381"/>
            <a:ext cx="132222" cy="12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1060">
            <a:extLst>
              <a:ext uri="{FF2B5EF4-FFF2-40B4-BE49-F238E27FC236}">
                <a16:creationId xmlns:a16="http://schemas.microsoft.com/office/drawing/2014/main" id="{16B69198-0567-410D-F64F-B2E27FB9F58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17770" y="5881301"/>
            <a:ext cx="1867868" cy="777488"/>
          </a:xfrm>
          <a:prstGeom prst="rect">
            <a:avLst/>
          </a:prstGeom>
        </p:spPr>
      </p:pic>
      <p:sp>
        <p:nvSpPr>
          <p:cNvPr id="1062" name="Google Shape;142;p17">
            <a:extLst>
              <a:ext uri="{FF2B5EF4-FFF2-40B4-BE49-F238E27FC236}">
                <a16:creationId xmlns:a16="http://schemas.microsoft.com/office/drawing/2014/main" id="{98D7CD11-52F8-EEA8-99EE-38C074E239C8}"/>
              </a:ext>
            </a:extLst>
          </p:cNvPr>
          <p:cNvSpPr txBox="1">
            <a:spLocks/>
          </p:cNvSpPr>
          <p:nvPr/>
        </p:nvSpPr>
        <p:spPr>
          <a:xfrm>
            <a:off x="0" y="6211912"/>
            <a:ext cx="41978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C8E2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API Flow: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BBK PORTAL (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FF9721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Corporate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583C9A-67FD-CBFC-9F3E-A60E72EA5F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84" y="4854411"/>
            <a:ext cx="2238687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19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56C085-55E7-CF29-020C-F66A188F0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44927"/>
              </p:ext>
            </p:extLst>
          </p:nvPr>
        </p:nvGraphicFramePr>
        <p:xfrm>
          <a:off x="3428406" y="147268"/>
          <a:ext cx="7297904" cy="6444427"/>
        </p:xfrm>
        <a:graphic>
          <a:graphicData uri="http://schemas.openxmlformats.org/drawingml/2006/table">
            <a:tbl>
              <a:tblPr firstRow="1" bandRow="1"/>
              <a:tblGrid>
                <a:gridCol w="1732579">
                  <a:extLst>
                    <a:ext uri="{9D8B030D-6E8A-4147-A177-3AD203B41FA5}">
                      <a16:colId xmlns:a16="http://schemas.microsoft.com/office/drawing/2014/main" val="1343955747"/>
                    </a:ext>
                  </a:extLst>
                </a:gridCol>
                <a:gridCol w="1486306">
                  <a:extLst>
                    <a:ext uri="{9D8B030D-6E8A-4147-A177-3AD203B41FA5}">
                      <a16:colId xmlns:a16="http://schemas.microsoft.com/office/drawing/2014/main" val="3488445943"/>
                    </a:ext>
                  </a:extLst>
                </a:gridCol>
                <a:gridCol w="882595">
                  <a:extLst>
                    <a:ext uri="{9D8B030D-6E8A-4147-A177-3AD203B41FA5}">
                      <a16:colId xmlns:a16="http://schemas.microsoft.com/office/drawing/2014/main" val="3570025737"/>
                    </a:ext>
                  </a:extLst>
                </a:gridCol>
                <a:gridCol w="3196424">
                  <a:extLst>
                    <a:ext uri="{9D8B030D-6E8A-4147-A177-3AD203B41FA5}">
                      <a16:colId xmlns:a16="http://schemas.microsoft.com/office/drawing/2014/main" val="3593325035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FFFFFF"/>
                          </a:solidFill>
                          <a:effectLst/>
                          <a:latin typeface="Segoe UI Light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REPOSITORY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E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b="1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95583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Template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309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Corporate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30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969462"/>
                  </a:ext>
                </a:extLst>
              </a:tr>
              <a:tr h="45815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b="1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Upload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342900" lvl="0" indent="-342900" algn="l">
                        <a:lnSpc>
                          <a:spcPct val="107000"/>
                        </a:lnSpc>
                        <a:buFont typeface="Wingdings" panose="05000000000000000000" pitchFamily="2" charset="2"/>
                        <a:buChar char="x"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VIA API</a:t>
                      </a:r>
                      <a:endParaRPr lang="en-IN" sz="1200" dirty="0">
                        <a:solidFill>
                          <a:srgbClr val="595959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766033"/>
                  </a:ext>
                </a:extLst>
              </a:tr>
              <a:tr h="21653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kern="120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INDEXING FIELDS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kern="120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DATA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63B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kern="1200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HIERARCHY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Sample Values</a:t>
                      </a:r>
                      <a:endParaRPr lang="en-IN" sz="1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0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76356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RIM Number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(Text Area)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Folder 1 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12345678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47894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RIM Name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n-IN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(Text Area)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Invita Company B.S.C.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7466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RIM Type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n-IN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Folder 3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Non Personal (Personal / NON Personal)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6869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RIM Branch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n-IN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Main Branch (</a:t>
                      </a:r>
                      <a:r>
                        <a:rPr lang="en-IN" sz="11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 </a:t>
                      </a: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Masters</a:t>
                      </a: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1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8138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TIN Number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n-IN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(Text Area)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Folder 2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59340-1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60119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LAST KYC DATE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n-IN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(Date)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55986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Document Type </a:t>
                      </a:r>
                      <a:r>
                        <a:rPr lang="en-IN" sz="1000" dirty="0">
                          <a:solidFill>
                            <a:srgbClr val="FF0000"/>
                          </a:solidFill>
                          <a:effectLst/>
                        </a:rPr>
                        <a:t>*</a:t>
                      </a:r>
                      <a:endParaRPr lang="en-IN" sz="10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Filename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Articles (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Compliance, RIM Details, Deposit, Other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IN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IN" sz="900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 </a:t>
                      </a:r>
                      <a:r>
                        <a:rPr lang="en-IN" sz="90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Masters</a:t>
                      </a:r>
                      <a:r>
                        <a:rPr lang="en-IN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12401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Account Number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(Text Area)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100000593401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10686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Quality Check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Yes (Yes / No)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7719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File Location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(Text Area)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55419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 dirty="0">
                          <a:effectLst/>
                        </a:rPr>
                        <a:t>Mandate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VIP (Staff / VIP / Normal)</a:t>
                      </a:r>
                      <a:endParaRPr lang="en-IN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3085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>
                          <a:effectLst/>
                        </a:rPr>
                        <a:t>File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9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Original received (</a:t>
                      </a: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Original File Not Received</a:t>
                      </a:r>
                      <a:br>
                        <a:rPr lang="en-US" sz="9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</a:br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Original File Received</a:t>
                      </a:r>
                      <a:r>
                        <a:rPr lang="en-US" sz="9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IN" sz="9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20024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>
                          <a:effectLst/>
                        </a:rPr>
                        <a:t>Account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(</a:t>
                      </a:r>
                      <a:r>
                        <a:rPr lang="en-IN" sz="900" b="0" i="0" kern="120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SCM / LMS / CMZ / FFD / CSC / SHR / CUR / SSV / CNS / SMM / LSR / PIL / SSM / FTD / SCL / SAV</a:t>
                      </a:r>
                      <a:r>
                        <a:rPr lang="en-US" sz="900" dirty="0"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Segoe UI" panose="020B0502040204020203" pitchFamily="34" charset="0"/>
                        </a:rPr>
                        <a:t>)</a:t>
                      </a:r>
                      <a:endParaRPr lang="en-IN" sz="900" dirty="0">
                        <a:effectLst/>
                        <a:latin typeface="Segoe UI" panose="020B0502040204020203" pitchFamily="34" charset="0"/>
                        <a:ea typeface="Calibri" panose="020F0502020204030204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44494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latinLnBrk="0"/>
                      <a:r>
                        <a:rPr lang="en-IN" sz="1000">
                          <a:effectLst/>
                        </a:rPr>
                        <a:t>Account Status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(Chosen)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Active (Active / Close)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140177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HIREARCHY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71C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000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 / Corporate / RIM Number / TIN Number / RIM Type / Document Type.pdf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effectLst/>
                          <a:highlight>
                            <a:srgbClr val="00C8E2"/>
                          </a:highlight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 / Corporate / 10000004 / 9840 / NON Personal / other_010922.pdf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effectLst/>
                          <a:highlight>
                            <a:srgbClr val="00C8E2"/>
                          </a:highlight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 / Corporate / 10000004 / 9840 / NON Personal / Other_010922_1.pdf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dirty="0">
                          <a:solidFill>
                            <a:schemeClr val="bg1"/>
                          </a:solidFill>
                          <a:effectLst/>
                          <a:highlight>
                            <a:srgbClr val="00C8E2"/>
                          </a:highlight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BBK / Corporate / 10000004 / 9840 / NON Personal / Other_020922.pdf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290471"/>
                  </a:ext>
                </a:extLst>
              </a:tr>
            </a:tbl>
          </a:graphicData>
        </a:graphic>
      </p:graphicFrame>
      <p:sp>
        <p:nvSpPr>
          <p:cNvPr id="6" name="Google Shape;142;p17">
            <a:extLst>
              <a:ext uri="{FF2B5EF4-FFF2-40B4-BE49-F238E27FC236}">
                <a16:creationId xmlns:a16="http://schemas.microsoft.com/office/drawing/2014/main" id="{3B47D47A-0F26-352F-4035-FD7DA8ED9391}"/>
              </a:ext>
            </a:extLst>
          </p:cNvPr>
          <p:cNvSpPr txBox="1">
            <a:spLocks/>
          </p:cNvSpPr>
          <p:nvPr/>
        </p:nvSpPr>
        <p:spPr>
          <a:xfrm>
            <a:off x="79513" y="6205904"/>
            <a:ext cx="41978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C8E2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Corporate: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Metadata(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FF9721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Info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ED1CD-F202-06BA-B1A4-24484897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7" y="4858050"/>
            <a:ext cx="2238687" cy="12955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2C94F8-E286-8356-2ECA-E23CA8E7A0B9}"/>
              </a:ext>
            </a:extLst>
          </p:cNvPr>
          <p:cNvSpPr txBox="1"/>
          <p:nvPr/>
        </p:nvSpPr>
        <p:spPr>
          <a:xfrm>
            <a:off x="377093" y="2725511"/>
            <a:ext cx="28590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Version</a:t>
            </a:r>
            <a:r>
              <a:rPr lang="en-US" sz="12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Compliance_01092022_1</a:t>
            </a:r>
          </a:p>
          <a:p>
            <a:r>
              <a:rPr lang="en-US" sz="12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12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Compliance_01092022_2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Compliance_10092022_3</a:t>
            </a:r>
          </a:p>
          <a:p>
            <a:r>
              <a:rPr lang="en-US" sz="12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120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Deposit</a:t>
            </a:r>
            <a:r>
              <a:rPr lang="en-US" sz="12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_01092022_1</a:t>
            </a:r>
            <a:endParaRPr lang="en-US" sz="12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Other_10092022_1</a:t>
            </a:r>
            <a:endParaRPr lang="en-US" sz="12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rgbClr val="000000"/>
              </a:solidFill>
              <a:effectLst/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03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A4F50D-464A-95B6-C883-293F45E539EC}"/>
              </a:ext>
            </a:extLst>
          </p:cNvPr>
          <p:cNvSpPr/>
          <p:nvPr/>
        </p:nvSpPr>
        <p:spPr>
          <a:xfrm>
            <a:off x="461341" y="234490"/>
            <a:ext cx="11354297" cy="6310468"/>
          </a:xfrm>
          <a:prstGeom prst="roundRect">
            <a:avLst>
              <a:gd name="adj" fmla="val 4232"/>
            </a:avLst>
          </a:prstGeom>
          <a:solidFill>
            <a:schemeClr val="accent2">
              <a:lumMod val="20000"/>
              <a:lumOff val="80000"/>
              <a:alpha val="24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rgbClr val="1BBAA5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UPLOAD API</a:t>
            </a:r>
            <a:r>
              <a:rPr lang="en-US" dirty="0">
                <a:solidFill>
                  <a:schemeClr val="tx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Used to upload the file into the repository at eachtime into the EDMS </a:t>
            </a:r>
            <a:r>
              <a:rPr lang="en-US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1BBAA5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US" sz="1800" dirty="0"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8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ooks only for the Metadata which is mandates to store  / archive the folder &amp; file in the centralized BBK Storage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solidFill>
                <a:schemeClr val="tx1"/>
              </a:solidFill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Format: JSON + Base 64 (</a:t>
            </a:r>
            <a:r>
              <a:rPr lang="en-US" sz="1800" dirty="0">
                <a:solidFill>
                  <a:schemeClr val="tx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FILE) (with RIM Details)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solidFill>
                <a:schemeClr val="tx1"/>
              </a:solidFill>
              <a:effectLst/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Mandates:</a:t>
            </a:r>
            <a:endParaRPr lang="en-US" sz="1800" b="1" dirty="0">
              <a:solidFill>
                <a:schemeClr val="tx1"/>
              </a:solidFill>
              <a:effectLst/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solidFill>
                  <a:schemeClr val="tx1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RIM Number/ RIM Name / RIM Type/RIM Branch/TIN Number/Last KYC Date / Account Number /DOCUMENT Type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solidFill>
                <a:schemeClr val="tx1"/>
              </a:solidFill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b="1" dirty="0">
                <a:solidFill>
                  <a:schemeClr val="tx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Folder Hierarchy </a:t>
            </a:r>
            <a:r>
              <a:rPr lang="en-US" sz="1800" dirty="0">
                <a:solidFill>
                  <a:schemeClr val="tx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6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BBK / Corporate / RIM Number / TIN Number / RIM Type / Document Type.pdf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B791C-5CD4-31B9-E233-CE78234D899F}"/>
              </a:ext>
            </a:extLst>
          </p:cNvPr>
          <p:cNvSpPr txBox="1"/>
          <p:nvPr/>
        </p:nvSpPr>
        <p:spPr>
          <a:xfrm>
            <a:off x="559766" y="313042"/>
            <a:ext cx="2891100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FF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Repository: </a:t>
            </a:r>
            <a:r>
              <a:rPr lang="en-US" sz="1800" b="1" dirty="0">
                <a:solidFill>
                  <a:srgbClr val="00C8E2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Corporate</a:t>
            </a:r>
            <a:endParaRPr lang="en-IN" sz="1600" b="1" dirty="0">
              <a:solidFill>
                <a:srgbClr val="00C8E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134464-BFF6-E0F9-C34B-5D7598AC53D7}"/>
              </a:ext>
            </a:extLst>
          </p:cNvPr>
          <p:cNvSpPr txBox="1"/>
          <p:nvPr/>
        </p:nvSpPr>
        <p:spPr>
          <a:xfrm>
            <a:off x="9808152" y="313042"/>
            <a:ext cx="18240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ighlight>
                  <a:srgbClr val="FFFF00"/>
                </a:highlight>
                <a:latin typeface="Segoe UI Light" panose="020B0502040204020203" pitchFamily="34" charset="0"/>
                <a:cs typeface="Times New Roman" panose="02020603050405020304" pitchFamily="18" charset="0"/>
              </a:rPr>
              <a:t>Each File -&gt; Each API Call</a:t>
            </a:r>
            <a:endParaRPr lang="en-IN" sz="12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905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654A688-668C-2892-8BC2-EB216784E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019308"/>
              </p:ext>
            </p:extLst>
          </p:nvPr>
        </p:nvGraphicFramePr>
        <p:xfrm>
          <a:off x="4558254" y="338743"/>
          <a:ext cx="7209039" cy="6119538"/>
        </p:xfrm>
        <a:graphic>
          <a:graphicData uri="http://schemas.openxmlformats.org/drawingml/2006/table">
            <a:tbl>
              <a:tblPr firstRow="1" bandRow="1"/>
              <a:tblGrid>
                <a:gridCol w="4522136">
                  <a:extLst>
                    <a:ext uri="{9D8B030D-6E8A-4147-A177-3AD203B41FA5}">
                      <a16:colId xmlns:a16="http://schemas.microsoft.com/office/drawing/2014/main" val="3489848034"/>
                    </a:ext>
                  </a:extLst>
                </a:gridCol>
                <a:gridCol w="2686903">
                  <a:extLst>
                    <a:ext uri="{9D8B030D-6E8A-4147-A177-3AD203B41FA5}">
                      <a16:colId xmlns:a16="http://schemas.microsoft.com/office/drawing/2014/main" val="1142216677"/>
                    </a:ext>
                  </a:extLst>
                </a:gridCol>
              </a:tblGrid>
              <a:tr h="238984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Input JSON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A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kern="1200" dirty="0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Response Body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63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274953"/>
                  </a:ext>
                </a:extLst>
              </a:tr>
              <a:tr h="5831311">
                <a:tc>
                  <a:txBody>
                    <a:bodyPr/>
                    <a:lstStyle/>
                    <a:p>
                      <a:pPr rtl="0"/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{	 "CabinetName": “</a:t>
                      </a:r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Corporate</a:t>
                      </a:r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",</a:t>
                      </a:r>
                    </a:p>
                    <a:p>
                      <a:pPr rtl="0"/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	"file" :"",</a:t>
                      </a:r>
                    </a:p>
                    <a:p>
                      <a:pPr rtl="0"/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	"filetype": "</a:t>
                      </a:r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pdf</a:t>
                      </a:r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",  	</a:t>
                      </a:r>
                    </a:p>
                    <a:p>
                      <a:pPr rtl="0"/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 	"Fields": [		{	"FieldName": "RIM Number ",		"FieldValue": "10627245"	},{	"FieldName": "RIM Name",		"FieldValue": "FADHEL ALMUDHAWI“ },{	"FieldName": "RIM Type",		"FieldValue": "Personal"	},{	"FieldName": "RIM Branch",		"FieldValue": "BBK - Lite Hidd -  205"},{	"FieldName": "TIN Number",		"FieldValue": "830707859"	},{	"FieldName": "LAST KYC DATE",		"FieldValue": "28-Aug-2022"	},{	"FieldName": "Document Type",		"FieldValue": "</a:t>
                      </a:r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Deposit</a:t>
                      </a:r>
                      <a:r>
                        <a:rPr lang="en-IN" sz="1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"	},{	"FieldName": "Account Number",		"FieldValue": "200007615777"	},{	"FieldName": "Quality Check",		"FieldValue": "NO"	},{	"FieldName": "File Location",		"FieldValue": "C84565"	},{	"FieldName": "Mandate Type",		"FieldValue": "Normal"},	{	"FieldName": "File Status",		"FieldValue": "Original File Received"},{	"FieldName": "Account Type",		"FieldValue": "Salary Transfer"	},{	"FieldName": "Account Status",		"FieldValue": "Active"	}}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Response Code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: 200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Response Body 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: “Successfully Archived”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US" sz="12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[Note :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0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Client Error</a:t>
                      </a: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 Bad Request</a:t>
                      </a: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401 Unauthorized</a:t>
                      </a: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404 Not Found</a:t>
                      </a: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406 Not Acceptable</a:t>
                      </a: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0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Server Error</a:t>
                      </a:r>
                      <a:br>
                        <a:rPr lang="en-US" sz="1000" dirty="0">
                          <a:solidFill>
                            <a:srgbClr val="FF0000"/>
                          </a:solidFill>
                        </a:rPr>
                      </a:br>
                      <a:r>
                        <a:rPr lang="en-US" sz="1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 Internal Server Error]</a:t>
                      </a:r>
                      <a:endParaRPr lang="en-IN" sz="1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632951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ADE5C748-C8FF-30EB-DBE9-C3C27BE76970}"/>
              </a:ext>
            </a:extLst>
          </p:cNvPr>
          <p:cNvGrpSpPr/>
          <p:nvPr/>
        </p:nvGrpSpPr>
        <p:grpSpPr>
          <a:xfrm>
            <a:off x="679416" y="149475"/>
            <a:ext cx="881697" cy="880579"/>
            <a:chOff x="3602799" y="964042"/>
            <a:chExt cx="881697" cy="880579"/>
          </a:xfrm>
        </p:grpSpPr>
        <p:pic>
          <p:nvPicPr>
            <p:cNvPr id="5" name="Picture 12" descr="Desktop Computer Icon transparent PNG - StickPNG">
              <a:extLst>
                <a:ext uri="{FF2B5EF4-FFF2-40B4-BE49-F238E27FC236}">
                  <a16:creationId xmlns:a16="http://schemas.microsoft.com/office/drawing/2014/main" id="{0FC19893-F08B-823C-4CE0-D324494A37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hq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3917" y="964042"/>
              <a:ext cx="880579" cy="8805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09BEAD-DF0E-D6FA-DB18-5CC3CFF4D212}"/>
                </a:ext>
              </a:extLst>
            </p:cNvPr>
            <p:cNvSpPr txBox="1"/>
            <p:nvPr/>
          </p:nvSpPr>
          <p:spPr>
            <a:xfrm>
              <a:off x="3602799" y="1060571"/>
              <a:ext cx="6656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200" b="1" kern="0" dirty="0">
                  <a:solidFill>
                    <a:srgbClr val="C02EA8"/>
                  </a:solidFill>
                </a:rPr>
                <a:t>API.1</a:t>
              </a:r>
              <a:endParaRPr lang="en-US" sz="1200" b="1" dirty="0">
                <a:solidFill>
                  <a:srgbClr val="C02EA8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3CD3F21-0910-3D61-16F9-C21A6459F9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3646" b="-4906"/>
          <a:stretch/>
        </p:blipFill>
        <p:spPr>
          <a:xfrm>
            <a:off x="467749" y="189275"/>
            <a:ext cx="212785" cy="260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0D801E-EFCF-E21C-BF09-ECBC47E8A20B}"/>
              </a:ext>
            </a:extLst>
          </p:cNvPr>
          <p:cNvSpPr txBox="1"/>
          <p:nvPr/>
        </p:nvSpPr>
        <p:spPr>
          <a:xfrm>
            <a:off x="1773898" y="220262"/>
            <a:ext cx="24033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EZOFIS API – 1</a:t>
            </a:r>
          </a:p>
          <a:p>
            <a:r>
              <a:rPr lang="en-US" sz="1100" dirty="0"/>
              <a:t>FILE UPLOAD WITH METDATA</a:t>
            </a:r>
          </a:p>
          <a:p>
            <a:r>
              <a:rPr lang="en-US" sz="1100" dirty="0"/>
              <a:t>[Metadata: JSON </a:t>
            </a:r>
          </a:p>
          <a:p>
            <a:r>
              <a:rPr lang="en-US" sz="1100" dirty="0"/>
              <a:t>PDF as BASE64]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1766A2-BD84-56C2-9931-489CB83EBC56}"/>
              </a:ext>
            </a:extLst>
          </p:cNvPr>
          <p:cNvSpPr/>
          <p:nvPr/>
        </p:nvSpPr>
        <p:spPr>
          <a:xfrm>
            <a:off x="288937" y="1303868"/>
            <a:ext cx="3888317" cy="5178095"/>
          </a:xfrm>
          <a:prstGeom prst="roundRect">
            <a:avLst>
              <a:gd name="adj" fmla="val 4232"/>
            </a:avLst>
          </a:prstGeom>
          <a:solidFill>
            <a:schemeClr val="accent2">
              <a:lumMod val="20000"/>
              <a:lumOff val="80000"/>
              <a:alpha val="24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0E9C2F-A22E-3F44-3F36-EEC01F7897CA}"/>
              </a:ext>
            </a:extLst>
          </p:cNvPr>
          <p:cNvSpPr txBox="1"/>
          <p:nvPr/>
        </p:nvSpPr>
        <p:spPr>
          <a:xfrm>
            <a:off x="374852" y="1830688"/>
            <a:ext cx="3959225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solidFill>
                  <a:srgbClr val="FF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Repository: </a:t>
            </a:r>
            <a:r>
              <a:rPr lang="en-US" sz="1800" b="1" dirty="0">
                <a:solidFill>
                  <a:srgbClr val="00C8E2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Corporate</a:t>
            </a:r>
            <a:endParaRPr lang="en-IN" sz="1600" b="1" dirty="0">
              <a:solidFill>
                <a:srgbClr val="00C8E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60240B-87E6-D1A7-3AFE-4FB67C8DA9A3}"/>
              </a:ext>
            </a:extLst>
          </p:cNvPr>
          <p:cNvSpPr txBox="1"/>
          <p:nvPr/>
        </p:nvSpPr>
        <p:spPr>
          <a:xfrm>
            <a:off x="387362" y="2340003"/>
            <a:ext cx="3959225" cy="4064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solidFill>
                  <a:srgbClr val="1BBAA5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UPLOAD API</a:t>
            </a:r>
            <a:r>
              <a:rPr lang="en-US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Used to upload the file into this repository at eachtime into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EDMS System</a:t>
            </a:r>
            <a:endParaRPr lang="en-US" sz="16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solidFill>
                  <a:srgbClr val="1BBAA5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r>
              <a:rPr lang="en-US" sz="1600" dirty="0"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sz="1600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ooks only for the Metadata which is mandates to create the folder &amp; file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600" dirty="0"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dirty="0">
                <a:effectLst/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Input Format: JSON + Base 64 (</a:t>
            </a:r>
            <a:r>
              <a:rPr lang="en-US" sz="1600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FILE) (with Job Details)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6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b="1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NOTE</a:t>
            </a:r>
            <a:r>
              <a:rPr lang="en-US" sz="1600" dirty="0"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Uploading the files can be done at anytime from the BBK Portal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7997C-157A-E8D2-9843-32B1A634A063}"/>
              </a:ext>
            </a:extLst>
          </p:cNvPr>
          <p:cNvSpPr txBox="1"/>
          <p:nvPr/>
        </p:nvSpPr>
        <p:spPr>
          <a:xfrm>
            <a:off x="374851" y="1420619"/>
            <a:ext cx="3959225" cy="39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b="1" dirty="0">
                <a:solidFill>
                  <a:schemeClr val="accent1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Single File</a:t>
            </a:r>
            <a:endParaRPr lang="en-IN" sz="1600" b="1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64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2;p17">
            <a:extLst>
              <a:ext uri="{FF2B5EF4-FFF2-40B4-BE49-F238E27FC236}">
                <a16:creationId xmlns:a16="http://schemas.microsoft.com/office/drawing/2014/main" id="{3B47D47A-0F26-352F-4035-FD7DA8ED9391}"/>
              </a:ext>
            </a:extLst>
          </p:cNvPr>
          <p:cNvSpPr txBox="1">
            <a:spLocks/>
          </p:cNvSpPr>
          <p:nvPr/>
        </p:nvSpPr>
        <p:spPr>
          <a:xfrm>
            <a:off x="95416" y="6086634"/>
            <a:ext cx="41978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C8E2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Corporate: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Test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A379C-414D-961D-7BBE-194A0CE873F3}"/>
              </a:ext>
            </a:extLst>
          </p:cNvPr>
          <p:cNvSpPr txBox="1"/>
          <p:nvPr/>
        </p:nvSpPr>
        <p:spPr>
          <a:xfrm>
            <a:off x="3048663" y="6194742"/>
            <a:ext cx="8552290" cy="36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the API Call, system will store the documents in Corporate and Retail as well</a:t>
            </a:r>
            <a:endParaRPr lang="en-IN" sz="1800" dirty="0">
              <a:solidFill>
                <a:srgbClr val="000000"/>
              </a:solidFill>
              <a:effectLst/>
              <a:highlight>
                <a:srgbClr val="FFFF00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5BBE4-866F-A5D9-565B-F9B24284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18" y="352033"/>
            <a:ext cx="10431154" cy="548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80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2;p17">
            <a:extLst>
              <a:ext uri="{FF2B5EF4-FFF2-40B4-BE49-F238E27FC236}">
                <a16:creationId xmlns:a16="http://schemas.microsoft.com/office/drawing/2014/main" id="{3B47D47A-0F26-352F-4035-FD7DA8ED9391}"/>
              </a:ext>
            </a:extLst>
          </p:cNvPr>
          <p:cNvSpPr txBox="1">
            <a:spLocks/>
          </p:cNvSpPr>
          <p:nvPr/>
        </p:nvSpPr>
        <p:spPr>
          <a:xfrm>
            <a:off x="95416" y="6086634"/>
            <a:ext cx="41978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C8E2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Corporate: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Test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A379C-414D-961D-7BBE-194A0CE873F3}"/>
              </a:ext>
            </a:extLst>
          </p:cNvPr>
          <p:cNvSpPr txBox="1"/>
          <p:nvPr/>
        </p:nvSpPr>
        <p:spPr>
          <a:xfrm>
            <a:off x="3048663" y="6194742"/>
            <a:ext cx="8552290" cy="36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the API Call, system will store the documents in Corporate and Retail as well</a:t>
            </a:r>
            <a:endParaRPr lang="en-IN" sz="1800" dirty="0">
              <a:solidFill>
                <a:srgbClr val="000000"/>
              </a:solidFill>
              <a:effectLst/>
              <a:highlight>
                <a:srgbClr val="FFFF00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595CD-0E07-814F-4137-FC95EC42F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95" y="471189"/>
            <a:ext cx="8919119" cy="5301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77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42;p17">
            <a:extLst>
              <a:ext uri="{FF2B5EF4-FFF2-40B4-BE49-F238E27FC236}">
                <a16:creationId xmlns:a16="http://schemas.microsoft.com/office/drawing/2014/main" id="{3B47D47A-0F26-352F-4035-FD7DA8ED9391}"/>
              </a:ext>
            </a:extLst>
          </p:cNvPr>
          <p:cNvSpPr txBox="1">
            <a:spLocks/>
          </p:cNvSpPr>
          <p:nvPr/>
        </p:nvSpPr>
        <p:spPr>
          <a:xfrm>
            <a:off x="95416" y="6086634"/>
            <a:ext cx="419787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 Extra Condensed"/>
              <a:buNone/>
              <a:defRPr sz="24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 Extra Condensed"/>
              <a:buNone/>
              <a:tabLst/>
              <a:defRPr/>
            </a:pP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00C8E2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Corporate: </a:t>
            </a:r>
            <a:r>
              <a:rPr kumimoji="0" lang="en-IN" sz="2400" b="1" i="0" u="none" strike="noStrike" kern="0" cap="none" spc="0" normalizeH="0" baseline="0" noProof="0" dirty="0">
                <a:ln>
                  <a:noFill/>
                </a:ln>
                <a:solidFill>
                  <a:srgbClr val="643094"/>
                </a:solidFill>
                <a:effectLst/>
                <a:uLnTx/>
                <a:uFillTx/>
                <a:latin typeface="Fira Sans Extra Condensed"/>
                <a:sym typeface="Fira Sans Extra Condensed"/>
              </a:rPr>
              <a:t>Test Case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1A379C-414D-961D-7BBE-194A0CE873F3}"/>
              </a:ext>
            </a:extLst>
          </p:cNvPr>
          <p:cNvSpPr txBox="1"/>
          <p:nvPr/>
        </p:nvSpPr>
        <p:spPr>
          <a:xfrm>
            <a:off x="3048663" y="6194742"/>
            <a:ext cx="8552290" cy="36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IN" dirty="0">
                <a:solidFill>
                  <a:srgbClr val="000000"/>
                </a:solidFill>
                <a:highlight>
                  <a:srgbClr val="FFFF00"/>
                </a:highlight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the API Call, system will store the documents in Corporate and Retail as well</a:t>
            </a:r>
            <a:endParaRPr lang="en-IN" sz="1800" dirty="0">
              <a:solidFill>
                <a:srgbClr val="000000"/>
              </a:solidFill>
              <a:effectLst/>
              <a:highlight>
                <a:srgbClr val="FFFF00"/>
              </a:highlight>
              <a:latin typeface="Segoe UI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17D4B-60F6-9CBF-A9D5-EFFA3F439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27" y="296363"/>
            <a:ext cx="9313220" cy="545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127446" y="3108960"/>
            <a:ext cx="6876288" cy="6400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Thank You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100C161-8B83-4B82-9272-9D28FF34253A}"/>
              </a:ext>
            </a:extLst>
          </p:cNvPr>
          <p:cNvCxnSpPr/>
          <p:nvPr/>
        </p:nvCxnSpPr>
        <p:spPr>
          <a:xfrm>
            <a:off x="4583457" y="3772747"/>
            <a:ext cx="1998133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1128</Words>
  <Application>Microsoft Office PowerPoint</Application>
  <PresentationFormat>Widescreen</PresentationFormat>
  <Paragraphs>133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Arial</vt:lpstr>
      <vt:lpstr>Calibri</vt:lpstr>
      <vt:lpstr>Calibri Light</vt:lpstr>
      <vt:lpstr>Dosis ExtraLight</vt:lpstr>
      <vt:lpstr>Fira Sans Extra Condensed</vt:lpstr>
      <vt:lpstr>Roboto</vt:lpstr>
      <vt:lpstr>Segoe UI</vt:lpstr>
      <vt:lpstr>Segoe UI Light</vt:lpstr>
      <vt:lpstr>Staatliches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ARUN</dc:creator>
  <cp:lastModifiedBy>EZOFIS</cp:lastModifiedBy>
  <cp:revision>136</cp:revision>
  <dcterms:created xsi:type="dcterms:W3CDTF">2022-06-27T12:01:08Z</dcterms:created>
  <dcterms:modified xsi:type="dcterms:W3CDTF">2022-10-03T12:06:51Z</dcterms:modified>
</cp:coreProperties>
</file>